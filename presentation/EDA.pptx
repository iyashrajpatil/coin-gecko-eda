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547CF8-35F0-4502-A43D-53AE64773FEE}" v="54" dt="2025-12-25T10:46:43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raj Patil" userId="19796455c3bc7ca9" providerId="LiveId" clId="{A46B6037-F2EF-4FFC-ACEE-C2E2D67F7BB6}"/>
    <pc:docChg chg="undo custSel addSld delSld modSld sldOrd modMainMaster">
      <pc:chgData name="Yashraj Patil" userId="19796455c3bc7ca9" providerId="LiveId" clId="{A46B6037-F2EF-4FFC-ACEE-C2E2D67F7BB6}" dt="2025-12-25T10:46:43.130" v="2511" actId="20577"/>
      <pc:docMkLst>
        <pc:docMk/>
      </pc:docMkLst>
      <pc:sldChg chg="addSp delSp modSp new mod modTransition modAnim">
        <pc:chgData name="Yashraj Patil" userId="19796455c3bc7ca9" providerId="LiveId" clId="{A46B6037-F2EF-4FFC-ACEE-C2E2D67F7BB6}" dt="2025-12-25T10:46:18.582" v="2487" actId="1076"/>
        <pc:sldMkLst>
          <pc:docMk/>
          <pc:sldMk cId="683926314" sldId="263"/>
        </pc:sldMkLst>
        <pc:spChg chg="mod">
          <ac:chgData name="Yashraj Patil" userId="19796455c3bc7ca9" providerId="LiveId" clId="{A46B6037-F2EF-4FFC-ACEE-C2E2D67F7BB6}" dt="2025-12-25T10:46:18.582" v="2487" actId="1076"/>
          <ac:spMkLst>
            <pc:docMk/>
            <pc:sldMk cId="683926314" sldId="263"/>
            <ac:spMk id="2" creationId="{7DD11C92-F609-6E0B-2500-0249EF0940AB}"/>
          </ac:spMkLst>
        </pc:spChg>
      </pc:sldChg>
      <pc:sldChg chg="modSp">
        <pc:chgData name="Yashraj Patil" userId="19796455c3bc7ca9" providerId="LiveId" clId="{A46B6037-F2EF-4FFC-ACEE-C2E2D67F7BB6}" dt="2025-12-25T10:46:43.130" v="2511" actId="20577"/>
        <pc:sldMkLst>
          <pc:docMk/>
          <pc:sldMk cId="3345232021" sldId="264"/>
        </pc:sldMkLst>
        <pc:spChg chg="mod">
          <ac:chgData name="Yashraj Patil" userId="19796455c3bc7ca9" providerId="LiveId" clId="{A46B6037-F2EF-4FFC-ACEE-C2E2D67F7BB6}" dt="2025-12-25T10:46:43.130" v="2511" actId="20577"/>
          <ac:spMkLst>
            <pc:docMk/>
            <pc:sldMk cId="3345232021" sldId="264"/>
            <ac:spMk id="2" creationId="{D947E332-DE9D-2F5E-587E-D89FC4609C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8AAC1-7AFC-4355-A69A-13F426146EEB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49FB6-3E8B-415A-9DD6-704BA4ABA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29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49FB6-3E8B-415A-9DD6-704BA4ABACC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41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06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53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22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48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59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8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52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41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66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01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909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5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730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24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0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042C9-94BA-4C95-B795-01BFB42D27E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7E29CA-12E8-4909-9748-590CDFCB2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08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FBCF-C77D-B0BF-AD66-5A7D98BB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Google Shape;98;p1">
            <a:extLst>
              <a:ext uri="{FF2B5EF4-FFF2-40B4-BE49-F238E27FC236}">
                <a16:creationId xmlns:a16="http://schemas.microsoft.com/office/drawing/2014/main" id="{E8A07C3A-FBE0-06D9-57B8-E3687B941AC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-55712"/>
            <a:ext cx="12192000" cy="691371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B3A6BB-0007-E974-14A3-9C6EB024418F}"/>
              </a:ext>
            </a:extLst>
          </p:cNvPr>
          <p:cNvSpPr txBox="1"/>
          <p:nvPr/>
        </p:nvSpPr>
        <p:spPr>
          <a:xfrm>
            <a:off x="2939845" y="3689568"/>
            <a:ext cx="631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Cryptocurrency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Market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Analysis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46C1F7-7959-0DAC-E6B7-65C67AB58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063" y="4561287"/>
            <a:ext cx="3617872" cy="88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746017-9087-DB05-DDE2-6A654681FC1B}"/>
              </a:ext>
            </a:extLst>
          </p:cNvPr>
          <p:cNvSpPr txBox="1"/>
          <p:nvPr/>
        </p:nvSpPr>
        <p:spPr>
          <a:xfrm>
            <a:off x="6327058" y="5986790"/>
            <a:ext cx="6312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Yashraj Patil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91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ED7A-F2FA-1188-1524-6E10A9581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85882"/>
            <a:ext cx="7766936" cy="633634"/>
          </a:xfrm>
        </p:spPr>
        <p:txBody>
          <a:bodyPr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Problems in the Crypto Market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DEA9C-3767-F6E0-A14F-738B5E0394E8}"/>
              </a:ext>
            </a:extLst>
          </p:cNvPr>
          <p:cNvSpPr txBox="1"/>
          <p:nvPr/>
        </p:nvSpPr>
        <p:spPr>
          <a:xfrm>
            <a:off x="2327787" y="3340063"/>
            <a:ext cx="6125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Objectives</a:t>
            </a:r>
            <a:r>
              <a:rPr lang="en-US" dirty="0"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en-US" dirty="0"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en-US" dirty="0"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EDA</a:t>
            </a:r>
            <a:r>
              <a:rPr lang="en-US" dirty="0"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</a:t>
            </a:r>
            <a:endParaRPr lang="en-IN" sz="32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BFCAC82-7229-16DE-EB1B-3B5A31408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72436874-EF45-76B3-8008-6EE24471D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27CEF00F-43D5-D08F-0D31-8918B2263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F29895E8-7A77-AD5D-4CEF-4A0ACBAF8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394" y="982770"/>
            <a:ext cx="9261679" cy="212793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marL="285750" lvl="0" indent="-285750" algn="l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cryptocurrency market is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highly volatile and fragmented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making it difficult for investors to track consistent trends.</a:t>
            </a:r>
          </a:p>
          <a:p>
            <a:pPr marL="285750" lvl="0" indent="-285750" algn="l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Prices fluctuate drastically across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coins, exchanges, and timeframes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creating uncertainty in decision-making.</a:t>
            </a:r>
          </a:p>
          <a:p>
            <a:pPr marL="285750" lvl="0" indent="-285750" algn="l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Lack of clarity on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top gainers/losers and market dominance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makes it challenging to identify short term opportunities.</a:t>
            </a:r>
          </a:p>
          <a:p>
            <a:pPr marL="285750" lvl="0" indent="-285750" algn="l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Investors struggle to interpret how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market cap, trading volume, and liquidity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influence performance.</a:t>
            </a:r>
          </a:p>
          <a:p>
            <a:pPr marL="285750" lvl="0" indent="-285750" algn="l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With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thousands of tokens listed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filtering out noise to focus on meaningful assets is a major challenge.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DF0CCEAE-5905-4326-9502-77113DCD5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6" y="4077238"/>
            <a:ext cx="10835148" cy="258532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analysis of CoinGecko market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uncover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patterns, anomalies, and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crypto pricing and trading activity.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gainers and losers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multiple time horizons (24h, 7d, etc.)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mirrored visualizations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capitalization vs. trading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highlight liquidity and investor interest.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dominance of major coins (BTC, ETH, stablecoins)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their influence on the overall market.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 and correlations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leading cryptocurrencies to understand risk and diversification potential.</a:t>
            </a:r>
          </a:p>
        </p:txBody>
      </p:sp>
      <p:pic>
        <p:nvPicPr>
          <p:cNvPr id="6" name="Picture 5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53E43ADC-4FF4-C765-D33B-1B6D4A843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5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23" grpId="0" build="p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1E02-78D9-70DB-E31D-50DAA6C5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814" y="108154"/>
            <a:ext cx="3215148" cy="65625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Web Scraping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5B8DE-A8C3-DDD8-72EF-E784B8470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93" y="1334678"/>
            <a:ext cx="3353892" cy="3994406"/>
          </a:xfr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Web scraping is the </a:t>
            </a:r>
            <a:r>
              <a:rPr lang="en-US" b="1" dirty="0"/>
              <a:t>automated process of extracting data from websites</a:t>
            </a:r>
            <a:r>
              <a:rPr lang="en-US" dirty="0"/>
              <a:t> using code instead of manual copy-paste. With Python libraries like </a:t>
            </a:r>
            <a:r>
              <a:rPr lang="en-US" b="1" dirty="0"/>
              <a:t>Requests</a:t>
            </a:r>
            <a:r>
              <a:rPr lang="en-US" dirty="0"/>
              <a:t> and </a:t>
            </a:r>
            <a:r>
              <a:rPr lang="en-US" b="1" dirty="0"/>
              <a:t>Beautiful Soup</a:t>
            </a:r>
            <a:r>
              <a:rPr lang="en-US" dirty="0"/>
              <a:t>, you can collect structured information such as prices, product details, reviews, or news articles directly from web pages.</a:t>
            </a: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B3FB3-D7DF-5A80-B2B3-C7902BF9CC49}"/>
              </a:ext>
            </a:extLst>
          </p:cNvPr>
          <p:cNvSpPr txBox="1"/>
          <p:nvPr/>
        </p:nvSpPr>
        <p:spPr>
          <a:xfrm>
            <a:off x="3650226" y="764407"/>
            <a:ext cx="6100916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How It Works: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scraper </a:t>
            </a:r>
            <a:r>
              <a:rPr lang="en-US" b="1" dirty="0"/>
              <a:t>sends a request</a:t>
            </a:r>
            <a:r>
              <a:rPr lang="en-US" dirty="0"/>
              <a:t> to the website.</a:t>
            </a:r>
          </a:p>
          <a:p>
            <a:pPr>
              <a:buFont typeface="+mj-lt"/>
              <a:buAutoNum type="arabicPeriod"/>
            </a:pPr>
            <a:r>
              <a:rPr lang="en-US" dirty="0"/>
              <a:t>It </a:t>
            </a:r>
            <a:r>
              <a:rPr lang="en-US" b="1" dirty="0"/>
              <a:t>retrieves the HTML content</a:t>
            </a:r>
            <a:r>
              <a:rPr lang="en-US" dirty="0"/>
              <a:t> of the page.</a:t>
            </a:r>
          </a:p>
          <a:p>
            <a:pPr>
              <a:buFont typeface="+mj-lt"/>
              <a:buAutoNum type="arabicPeriod"/>
            </a:pPr>
            <a:r>
              <a:rPr lang="en-US" dirty="0"/>
              <a:t>Specific elements (e.g., product names, prices, ratings) are </a:t>
            </a:r>
            <a:r>
              <a:rPr lang="en-US" b="1" dirty="0"/>
              <a:t>parsed and extracted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cleaned data is </a:t>
            </a:r>
            <a:r>
              <a:rPr lang="en-US" b="1" dirty="0"/>
              <a:t>stored in structured formats</a:t>
            </a:r>
            <a:r>
              <a:rPr lang="en-US" dirty="0"/>
              <a:t> like spreadsheets, CSV files, or Pandas Data Frames.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42A86-1E39-35D6-C7E3-7DA25B052905}"/>
              </a:ext>
            </a:extLst>
          </p:cNvPr>
          <p:cNvSpPr txBox="1"/>
          <p:nvPr/>
        </p:nvSpPr>
        <p:spPr>
          <a:xfrm>
            <a:off x="3650226" y="2954272"/>
            <a:ext cx="6100916" cy="313932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Why It’s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research &amp; trend analysis</a:t>
            </a:r>
            <a:r>
              <a:rPr lang="en-US" dirty="0"/>
              <a:t> – track competitor strategies and industry shifts.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Price monitoring</a:t>
            </a:r>
            <a:r>
              <a:rPr lang="en-US" dirty="0"/>
              <a:t> – compare product prices across platforms in real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Lead generation</a:t>
            </a:r>
            <a:r>
              <a:rPr lang="en-US" dirty="0"/>
              <a:t> – collect contact details or business listings at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Content aggregation</a:t>
            </a:r>
            <a:r>
              <a:rPr lang="en-US" dirty="0"/>
              <a:t> – gather news, reviews, or social media posts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Data-driven insights</a:t>
            </a:r>
            <a:r>
              <a:rPr lang="en-US" dirty="0"/>
              <a:t> – fuel analytics, dashboards, and machine learning models.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09F8B5-F6C1-1EAB-8EC3-5B1E2A8C8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152" y="1395025"/>
            <a:ext cx="2710489" cy="399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7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ED5C-4CD8-BD16-B176-E077A1C2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747" y="0"/>
            <a:ext cx="4672506" cy="63392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Interface of the Website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D45AE2-B144-2D7A-81EE-1F3F68E97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123" y="2160588"/>
            <a:ext cx="4747791" cy="3881437"/>
          </a:xfrm>
        </p:spPr>
      </p:pic>
      <p:pic>
        <p:nvPicPr>
          <p:cNvPr id="6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D751D3-37BF-D124-830E-5AF45C3F9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335"/>
            <a:ext cx="12192000" cy="731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81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4408-56E5-B153-C796-2DC2CEE1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675" y="740526"/>
            <a:ext cx="8596668" cy="61943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Extracting Data From The Table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FF5F28-A6F2-F93F-5EE8-706C9B516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4" y="1716704"/>
            <a:ext cx="9681169" cy="319172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B84E43-2D36-8939-4C58-BB3259C12D27}"/>
              </a:ext>
            </a:extLst>
          </p:cNvPr>
          <p:cNvSpPr txBox="1"/>
          <p:nvPr/>
        </p:nvSpPr>
        <p:spPr>
          <a:xfrm>
            <a:off x="1455880" y="5161427"/>
            <a:ext cx="830825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 the details from the table like symbol,coin_name,coin_price,price_change_per_24h,volume_24h,market_cap</a:t>
            </a:r>
            <a:endParaRPr lang="en-IN" dirty="0"/>
          </a:p>
        </p:txBody>
      </p:sp>
      <p:pic>
        <p:nvPicPr>
          <p:cNvPr id="3" name="Picture 2" descr="A group of green and gold coins&#10;&#10;AI-generated content may be incorrect.">
            <a:extLst>
              <a:ext uri="{FF2B5EF4-FFF2-40B4-BE49-F238E27FC236}">
                <a16:creationId xmlns:a16="http://schemas.microsoft.com/office/drawing/2014/main" id="{50606E86-9326-DB13-6FDE-F1BA956C3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145" y="3976288"/>
            <a:ext cx="3429000" cy="3429000"/>
          </a:xfrm>
          <a:prstGeom prst="rect">
            <a:avLst/>
          </a:prstGeom>
        </p:spPr>
      </p:pic>
      <p:pic>
        <p:nvPicPr>
          <p:cNvPr id="4" name="Picture 3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87E96E2A-9936-BA60-3E03-CA1024E3D0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427" y="-565913"/>
            <a:ext cx="3232310" cy="323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80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87274-6EF7-ADAC-8D87-9074B969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57" y="78658"/>
            <a:ext cx="2793453" cy="589935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Data Cleaning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D32CA-AB3A-D86C-A339-1933F9FCF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1914" y="639835"/>
            <a:ext cx="6383841" cy="26155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E8B46D-CDDA-FEE7-F957-D0CD81B5F1E7}"/>
              </a:ext>
            </a:extLst>
          </p:cNvPr>
          <p:cNvSpPr txBox="1"/>
          <p:nvPr/>
        </p:nvSpPr>
        <p:spPr>
          <a:xfrm>
            <a:off x="5593992" y="111700"/>
            <a:ext cx="3962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Before</a:t>
            </a:r>
            <a:r>
              <a:rPr lang="en-US" sz="1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Cleaning:</a:t>
            </a:r>
            <a:endParaRPr lang="en-IN" sz="2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08CBF-5164-1329-77D6-2095970BA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992" y="3851019"/>
            <a:ext cx="6499686" cy="29332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B55243-3633-5BA6-DE43-9E84970AF064}"/>
              </a:ext>
            </a:extLst>
          </p:cNvPr>
          <p:cNvSpPr txBox="1"/>
          <p:nvPr/>
        </p:nvSpPr>
        <p:spPr>
          <a:xfrm>
            <a:off x="5593992" y="3353169"/>
            <a:ext cx="3106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After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Cleaning:</a:t>
            </a:r>
            <a:endParaRPr lang="en-IN" sz="2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0E5B9-D2DB-3D40-0766-845F6A9B7730}"/>
              </a:ext>
            </a:extLst>
          </p:cNvPr>
          <p:cNvSpPr txBox="1"/>
          <p:nvPr/>
        </p:nvSpPr>
        <p:spPr>
          <a:xfrm>
            <a:off x="156245" y="718493"/>
            <a:ext cx="5335895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original dataset contained several </a:t>
            </a:r>
            <a:r>
              <a:rPr lang="en-US" b="1" dirty="0"/>
              <a:t>data quality issues</a:t>
            </a:r>
            <a:r>
              <a:rPr lang="en-US" dirty="0"/>
              <a:t> such as noisy entries, inconsistent data types, duplicate records, and missing values. These problems made the raw data unreliable for analysis.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AC1DE-2FE9-86A7-ED58-E1EF2A653568}"/>
              </a:ext>
            </a:extLst>
          </p:cNvPr>
          <p:cNvSpPr txBox="1"/>
          <p:nvPr/>
        </p:nvSpPr>
        <p:spPr>
          <a:xfrm>
            <a:off x="98322" y="2588531"/>
            <a:ext cx="5393818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u="sng" dirty="0"/>
              <a:t>To address this, I performed a series of </a:t>
            </a:r>
            <a:r>
              <a:rPr lang="en-US" b="1" u="sng" dirty="0"/>
              <a:t>data cleaning steps</a:t>
            </a:r>
            <a:r>
              <a:rPr lang="en-US" u="sng" dirty="0"/>
              <a:t> to ensure accuracy, consistency, and usability: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Removed irrelevant columns and extraneous characters</a:t>
            </a:r>
            <a:r>
              <a:rPr lang="en-US" dirty="0"/>
              <a:t> to streamline the dataset.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Handled missing values</a:t>
            </a:r>
            <a:r>
              <a:rPr lang="en-US" dirty="0"/>
              <a:t> through imputation or removal, depending on context.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Eliminated duplicate records</a:t>
            </a:r>
            <a:r>
              <a:rPr lang="en-US" dirty="0"/>
              <a:t> to avoid bias and redundancy.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Converted columns to appropriate data types</a:t>
            </a:r>
            <a:r>
              <a:rPr lang="en-US" dirty="0"/>
              <a:t> (e.g., numeric, categorical, datetime) for consistency and proper analysis.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Standardized formats and labels</a:t>
            </a:r>
            <a:r>
              <a:rPr lang="en-US" dirty="0"/>
              <a:t> to maintain uniformity across the dataset.</a:t>
            </a:r>
          </a:p>
        </p:txBody>
      </p:sp>
    </p:spTree>
    <p:extLst>
      <p:ext uri="{BB962C8B-B14F-4D97-AF65-F5344CB8AC3E}">
        <p14:creationId xmlns:p14="http://schemas.microsoft.com/office/powerpoint/2010/main" val="727953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A2CD-7D5A-2A9F-4E59-A5259DEC0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23" y="0"/>
            <a:ext cx="3698021" cy="619432"/>
          </a:xfrm>
        </p:spPr>
        <p:txBody>
          <a:bodyPr/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Data Visualization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72646-0844-B271-21E4-2D64A490A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813" y="619432"/>
            <a:ext cx="2606640" cy="341632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visualization</a:t>
            </a:r>
            <a:r>
              <a:rPr lang="en-US" dirty="0"/>
              <a:t> is the practice of representing information and data in a </a:t>
            </a:r>
            <a:r>
              <a:rPr lang="en-US" b="1" dirty="0"/>
              <a:t>graphical or pictorial format</a:t>
            </a:r>
            <a:r>
              <a:rPr lang="en-US" dirty="0"/>
              <a:t> — like charts, graphs, maps, or dashboards — so that patterns, trends, and insights become easier to see and understand.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360F9-DADE-03D2-336B-D7AFB4068693}"/>
              </a:ext>
            </a:extLst>
          </p:cNvPr>
          <p:cNvSpPr txBox="1"/>
          <p:nvPr/>
        </p:nvSpPr>
        <p:spPr>
          <a:xfrm>
            <a:off x="3698021" y="619432"/>
            <a:ext cx="5632792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Simplifies complexity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Turns large, messy datasets into clear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Reveals hidden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uncover correlations, anomalies, and trends not obvious in raw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Speeds up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Visuals are processed faster by the brain than text or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Makes insights accessible to both technical and non-technical audiences.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storytelling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Guides viewers step by step toward conclusions.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3AD1F3-FE1A-8BE5-CE54-E1330E169685}"/>
              </a:ext>
            </a:extLst>
          </p:cNvPr>
          <p:cNvSpPr txBox="1"/>
          <p:nvPr/>
        </p:nvSpPr>
        <p:spPr>
          <a:xfrm>
            <a:off x="883813" y="4138602"/>
            <a:ext cx="7236542" cy="258532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Univariate (1 variable)</a:t>
            </a:r>
            <a:endParaRPr lang="en-IN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Focus: Distribution &amp;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Examples: Histogram, Bar chart, Box plot</a:t>
            </a:r>
          </a:p>
          <a:p>
            <a:pPr>
              <a:buNone/>
            </a:pPr>
            <a:r>
              <a:rPr lang="en-IN" b="1" u="sng" dirty="0"/>
              <a:t>Bivariate (2 variables)</a:t>
            </a:r>
            <a:endParaRPr lang="en-IN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Focus: Relationships &amp; comparisons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Examples: Scatter plot, Line chart, Grouped bar chart</a:t>
            </a:r>
          </a:p>
          <a:p>
            <a:pPr>
              <a:buNone/>
            </a:pPr>
            <a:r>
              <a:rPr lang="en-IN" b="1" u="sng" dirty="0"/>
              <a:t>Multivariate (3+ variables)</a:t>
            </a:r>
            <a:endParaRPr lang="en-IN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Focus: Interactions &amp; combined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Examples: Heatmap, Bubble chart, Pair plot</a:t>
            </a:r>
          </a:p>
        </p:txBody>
      </p:sp>
      <p:pic>
        <p:nvPicPr>
          <p:cNvPr id="5" name="Picture 4" descr="A group of gold coins with symbols&#10;&#10;AI-generated content may be incorrect.">
            <a:extLst>
              <a:ext uri="{FF2B5EF4-FFF2-40B4-BE49-F238E27FC236}">
                <a16:creationId xmlns:a16="http://schemas.microsoft.com/office/drawing/2014/main" id="{C5FCAA3D-7CDA-7578-8BE9-C17B48A33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549" y="3352905"/>
            <a:ext cx="3771377" cy="377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2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11C92-F609-6E0B-2500-0249EF09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993" y="0"/>
            <a:ext cx="2832783" cy="400110"/>
          </a:xfrm>
        </p:spPr>
        <p:txBody>
          <a:bodyPr>
            <a:no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Bivariate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nalysis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26AC7-286B-A825-887F-19C02163CE0B}"/>
              </a:ext>
            </a:extLst>
          </p:cNvPr>
          <p:cNvSpPr txBox="1"/>
          <p:nvPr/>
        </p:nvSpPr>
        <p:spPr>
          <a:xfrm>
            <a:off x="3868993" y="430888"/>
            <a:ext cx="2556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Numerical Vs Categorical</a:t>
            </a:r>
            <a:endParaRPr lang="en-IN" sz="1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5C4EC9-8E1C-0E59-9E70-0574763776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090" y="1622395"/>
            <a:ext cx="4022141" cy="359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BC4917-8034-689E-603C-6291674626F3}"/>
              </a:ext>
            </a:extLst>
          </p:cNvPr>
          <p:cNvSpPr txBox="1"/>
          <p:nvPr/>
        </p:nvSpPr>
        <p:spPr>
          <a:xfrm>
            <a:off x="833480" y="872753"/>
            <a:ext cx="8583561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How much of the total cryptocurrency market capitalization is dominated by the top 5 coins versus all other coins combined?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D5315-430C-A67C-B9DF-E13174952B63}"/>
              </a:ext>
            </a:extLst>
          </p:cNvPr>
          <p:cNvSpPr txBox="1"/>
          <p:nvPr/>
        </p:nvSpPr>
        <p:spPr>
          <a:xfrm>
            <a:off x="1068322" y="5503782"/>
            <a:ext cx="811387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pie chart demonstrates that the crypto market is highly concentrated, with the top 5 coins holding the lion’s share of market capitalization, while the rest of the market is fragmented and relatively small.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4B9AD-9ADD-00FB-A246-BCA98F738F9F}"/>
              </a:ext>
            </a:extLst>
          </p:cNvPr>
          <p:cNvSpPr txBox="1"/>
          <p:nvPr/>
        </p:nvSpPr>
        <p:spPr>
          <a:xfrm>
            <a:off x="833480" y="2318744"/>
            <a:ext cx="2143431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Bitcoin dominates the market share by holding 54.4% followed by Ethereum with 11.8% 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5D592A-79BC-FF0E-FCE0-91552109BB7F}"/>
              </a:ext>
            </a:extLst>
          </p:cNvPr>
          <p:cNvSpPr txBox="1"/>
          <p:nvPr/>
        </p:nvSpPr>
        <p:spPr>
          <a:xfrm>
            <a:off x="7952035" y="2595742"/>
            <a:ext cx="1465006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While Other coins hold just 22.2% market share</a:t>
            </a:r>
            <a:endParaRPr lang="en-IN" dirty="0"/>
          </a:p>
        </p:txBody>
      </p:sp>
      <p:pic>
        <p:nvPicPr>
          <p:cNvPr id="15" name="Picture 14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0A0779B2-3EA8-4E97-97D7-2E256E5CF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  <p:pic>
        <p:nvPicPr>
          <p:cNvPr id="16" name="Picture 15" descr="A group of green and gold coins&#10;&#10;AI-generated content may be incorrect.">
            <a:extLst>
              <a:ext uri="{FF2B5EF4-FFF2-40B4-BE49-F238E27FC236}">
                <a16:creationId xmlns:a16="http://schemas.microsoft.com/office/drawing/2014/main" id="{8B893FEC-08BE-55B2-4BC3-E3A74CA12D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816" y="407307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E332-DE9D-2F5E-587E-D89FC460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1" y="78658"/>
            <a:ext cx="2980266" cy="491612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Bivariate Analysis</a:t>
            </a:r>
            <a:endParaRPr lang="en-IN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1D8CC-3992-66B0-054A-0269833384BA}"/>
              </a:ext>
            </a:extLst>
          </p:cNvPr>
          <p:cNvSpPr txBox="1"/>
          <p:nvPr/>
        </p:nvSpPr>
        <p:spPr>
          <a:xfrm>
            <a:off x="3726426" y="47715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Numerical VS Numerical</a:t>
            </a:r>
            <a:endParaRPr lang="en-IN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A04BA-03B1-46BE-E2BE-7DAB017B4DD7}"/>
              </a:ext>
            </a:extLst>
          </p:cNvPr>
          <p:cNvSpPr txBox="1"/>
          <p:nvPr/>
        </p:nvSpPr>
        <p:spPr>
          <a:xfrm>
            <a:off x="639097" y="846490"/>
            <a:ext cx="8917858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is the overall distribution of daily returns across the top cryptocurrencies, and does the market show a bias toward gains or losses in the short term?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2311F-9D92-34BA-E00E-BA327FBD3AA1}"/>
              </a:ext>
            </a:extLst>
          </p:cNvPr>
          <p:cNvSpPr txBox="1"/>
          <p:nvPr/>
        </p:nvSpPr>
        <p:spPr>
          <a:xfrm>
            <a:off x="530943" y="5551912"/>
            <a:ext cx="8721212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The distribution is skewed to the right, meaning most coins had negative returns, while fewer coins experienced strong positive gains.</a:t>
            </a:r>
          </a:p>
          <a:p>
            <a:pPr marL="285750" indent="-285750">
              <a:buFontTx/>
              <a:buChar char="-"/>
            </a:pPr>
            <a:r>
              <a:rPr lang="en-IN" dirty="0"/>
              <a:t> The peak around –5% shows that many coins lost roughly this amount in the last 24 hours.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52218-2FC4-B60C-C94F-ED9F8EB8C0D2}"/>
              </a:ext>
            </a:extLst>
          </p:cNvPr>
          <p:cNvSpPr txBox="1"/>
          <p:nvPr/>
        </p:nvSpPr>
        <p:spPr>
          <a:xfrm>
            <a:off x="562224" y="1859339"/>
            <a:ext cx="1758087" cy="3139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The longer right tail indicates that while losses are common, a few coins achieved large positive spikes, reflecting speculative rallies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D31536-65B6-E45E-6AAD-0E5BEAF2F264}"/>
              </a:ext>
            </a:extLst>
          </p:cNvPr>
          <p:cNvSpPr txBox="1"/>
          <p:nvPr/>
        </p:nvSpPr>
        <p:spPr>
          <a:xfrm>
            <a:off x="7631822" y="1997838"/>
            <a:ext cx="2131610" cy="2862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 The KDE curve smooths the distribution, confirming that downward moves dominate, but extreme upward moves are possible — a mascot of crypto volatility</a:t>
            </a:r>
          </a:p>
        </p:txBody>
      </p:sp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3EAE7DD8-0777-363E-0E0B-E0C7B2163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809" y="1769041"/>
            <a:ext cx="4515480" cy="3562847"/>
          </a:xfrm>
          <a:prstGeom prst="rect">
            <a:avLst/>
          </a:prstGeom>
        </p:spPr>
      </p:pic>
      <p:pic>
        <p:nvPicPr>
          <p:cNvPr id="31" name="Picture 30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C9AF3E7F-3485-7A14-B686-AC0ECC542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 animBg="1"/>
      <p:bldP spid="12" grpId="0" animBg="1"/>
      <p:bldP spid="14" grpId="0" build="allAtOnce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03BBE8-6D90-9F24-3DBB-ECCE4ABB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60" y="0"/>
            <a:ext cx="2704434" cy="471948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Bivariate Analysis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A4EF1-2B02-E375-E6D0-6EDF35F48CC3}"/>
              </a:ext>
            </a:extLst>
          </p:cNvPr>
          <p:cNvSpPr txBox="1"/>
          <p:nvPr/>
        </p:nvSpPr>
        <p:spPr>
          <a:xfrm>
            <a:off x="3735977" y="42697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Numerical VS Numerical</a:t>
            </a:r>
            <a:endParaRPr lang="en-IN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440EE1-AEEB-C2FE-D202-ABCBF8294774}"/>
              </a:ext>
            </a:extLst>
          </p:cNvPr>
          <p:cNvSpPr txBox="1"/>
          <p:nvPr/>
        </p:nvSpPr>
        <p:spPr>
          <a:xfrm>
            <a:off x="192766" y="922678"/>
            <a:ext cx="956650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What is the relationship between a cryptocurrency’s market capitalization and its trading volume, and does a larger market cap generally correspond to higher trading activity?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254A41-8B36-E52A-1A86-E67AA1A797E7}"/>
              </a:ext>
            </a:extLst>
          </p:cNvPr>
          <p:cNvSpPr txBox="1"/>
          <p:nvPr/>
        </p:nvSpPr>
        <p:spPr>
          <a:xfrm>
            <a:off x="374363" y="5524278"/>
            <a:ext cx="946642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 Larger market cap coins (e.g., Bitcoin, Ethereum) tend to have higher trading volumes, confirming that dominant coins are also the most liquid.- Smaller-cap coins are more scattered, with some showing relatively high trading activity despite lower market caps   indicating speculative interest.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657509-27E0-67E1-20D7-B6BFA597D684}"/>
              </a:ext>
            </a:extLst>
          </p:cNvPr>
          <p:cNvSpPr txBox="1"/>
          <p:nvPr/>
        </p:nvSpPr>
        <p:spPr>
          <a:xfrm>
            <a:off x="374363" y="2267634"/>
            <a:ext cx="1816510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The regression line reinforces the trend: as market cap increases, trading volume also increases.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C51234-A987-289C-6399-820E3AE4377A}"/>
              </a:ext>
            </a:extLst>
          </p:cNvPr>
          <p:cNvSpPr txBox="1"/>
          <p:nvPr/>
        </p:nvSpPr>
        <p:spPr>
          <a:xfrm>
            <a:off x="7483836" y="2129134"/>
            <a:ext cx="2239297" cy="23083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Market cap is a strong predictor of liquidity, but outliers exist where coins punch above or below their weight in terms of trading activity</a:t>
            </a: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8CA6F504-2A8D-A5FE-B9D2-AB3AF10C8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1704" y="1741404"/>
            <a:ext cx="4791744" cy="3610479"/>
          </a:xfrm>
          <a:prstGeom prst="rect">
            <a:avLst/>
          </a:prstGeom>
        </p:spPr>
      </p:pic>
      <p:pic>
        <p:nvPicPr>
          <p:cNvPr id="29" name="Picture 28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34A9140D-DB7B-30A2-A87C-A6A656B38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  <p:pic>
        <p:nvPicPr>
          <p:cNvPr id="30" name="Picture 29" descr="A group of green and gold coins&#10;&#10;AI-generated content may be incorrect.">
            <a:extLst>
              <a:ext uri="{FF2B5EF4-FFF2-40B4-BE49-F238E27FC236}">
                <a16:creationId xmlns:a16="http://schemas.microsoft.com/office/drawing/2014/main" id="{0F41FCBD-DC8D-8F66-5996-7BE408248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145" y="3976288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4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4" grpId="0" animBg="1"/>
      <p:bldP spid="18" grpId="0" animBg="1"/>
      <p:bldP spid="20" grpId="0" animBg="1"/>
      <p:bldP spid="22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81BF-5B95-D689-7621-19DB13B5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576" y="0"/>
            <a:ext cx="2508318" cy="373626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Bivariate Analysis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A05A2E-57A8-1CAD-4FA6-9708F2776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0088" y="1594326"/>
            <a:ext cx="5996310" cy="35665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979F5A-C7F9-D637-1447-0BB111D02B81}"/>
              </a:ext>
            </a:extLst>
          </p:cNvPr>
          <p:cNvSpPr txBox="1"/>
          <p:nvPr/>
        </p:nvSpPr>
        <p:spPr>
          <a:xfrm>
            <a:off x="3648541" y="373626"/>
            <a:ext cx="2556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Numerical Vs Categorical</a:t>
            </a:r>
            <a:endParaRPr lang="en-IN" sz="1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30CFF-3058-8F99-4863-9A72C93E4DB5}"/>
              </a:ext>
            </a:extLst>
          </p:cNvPr>
          <p:cNvSpPr txBox="1"/>
          <p:nvPr/>
        </p:nvSpPr>
        <p:spPr>
          <a:xfrm>
            <a:off x="808898" y="745934"/>
            <a:ext cx="805869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Which cryptocurrencies recorded the highest percentage gains in the last 24 hours, and what does this reveal about short‑term market dynamics?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63EAFC-38B9-04E2-60C3-D29E8413F61C}"/>
              </a:ext>
            </a:extLst>
          </p:cNvPr>
          <p:cNvSpPr txBox="1"/>
          <p:nvPr/>
        </p:nvSpPr>
        <p:spPr>
          <a:xfrm>
            <a:off x="671672" y="5390396"/>
            <a:ext cx="850244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 Massive spikes: Coins like Spartan Protocol (+4500%) and Veritas (+3800%) show extraordinary one‑day surges, far beyond typical market movements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9DB9A-223B-9878-1535-8371EE456CA4}"/>
              </a:ext>
            </a:extLst>
          </p:cNvPr>
          <p:cNvSpPr txBox="1"/>
          <p:nvPr/>
        </p:nvSpPr>
        <p:spPr>
          <a:xfrm>
            <a:off x="110613" y="2017824"/>
            <a:ext cx="1729475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Such extreme gains are often linked to low‑cap tokens, where small inflows of capital can cause outsized price jumps.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C26389-5171-D0AA-142A-9D5246357E09}"/>
              </a:ext>
            </a:extLst>
          </p:cNvPr>
          <p:cNvSpPr txBox="1"/>
          <p:nvPr/>
        </p:nvSpPr>
        <p:spPr>
          <a:xfrm>
            <a:off x="7836398" y="2017825"/>
            <a:ext cx="1956500" cy="258532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While these tokens offer huge upside potential, they also carry high downside risk, as such spikes are rarely sustainable.</a:t>
            </a:r>
          </a:p>
        </p:txBody>
      </p:sp>
      <p:pic>
        <p:nvPicPr>
          <p:cNvPr id="17" name="Picture 16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00413EA1-F741-5E0B-5EA6-3F8FF9001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  <p:pic>
        <p:nvPicPr>
          <p:cNvPr id="18" name="Picture 17" descr="A group of green and gold coins&#10;&#10;AI-generated content may be incorrect.">
            <a:extLst>
              <a:ext uri="{FF2B5EF4-FFF2-40B4-BE49-F238E27FC236}">
                <a16:creationId xmlns:a16="http://schemas.microsoft.com/office/drawing/2014/main" id="{317B6654-229D-503F-ED29-89753420E3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145" y="3976288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5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0" grpId="0" animBg="1"/>
      <p:bldP spid="12" grpId="0" animBg="1"/>
      <p:bldP spid="1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F4E74D-E23F-9297-6099-F0ACD4A79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527" y="1734807"/>
            <a:ext cx="5791138" cy="339120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66B8A5-2375-653A-A13C-43DF0816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507" y="-1"/>
            <a:ext cx="2694603" cy="491613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Bivariate Analysis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8C015-37E5-9E76-CAA8-FE91517B5B66}"/>
              </a:ext>
            </a:extLst>
          </p:cNvPr>
          <p:cNvSpPr txBox="1"/>
          <p:nvPr/>
        </p:nvSpPr>
        <p:spPr>
          <a:xfrm>
            <a:off x="4060723" y="397547"/>
            <a:ext cx="2556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Numerical Vs Categorical</a:t>
            </a:r>
            <a:endParaRPr lang="en-IN" sz="1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7900B-046D-AC66-3783-64DFF5B57048}"/>
              </a:ext>
            </a:extLst>
          </p:cNvPr>
          <p:cNvSpPr txBox="1"/>
          <p:nvPr/>
        </p:nvSpPr>
        <p:spPr>
          <a:xfrm>
            <a:off x="589936" y="815975"/>
            <a:ext cx="895567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Which cryptocurrencies recorded the largest percentage losses in the last 24 hours, and what does this reveal about short‑term risks and vulnerabilities in the market?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24A73-5BB2-4354-2618-2D33C0400FA1}"/>
              </a:ext>
            </a:extLst>
          </p:cNvPr>
          <p:cNvSpPr txBox="1"/>
          <p:nvPr/>
        </p:nvSpPr>
        <p:spPr>
          <a:xfrm>
            <a:off x="1259003" y="5462442"/>
            <a:ext cx="7617541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Severe declines: Tokens like Merge (–94.9%), Wagerr (–93.3%), and BitBonk (–93.0%) lost nearly all of their value in just one day, showing the extreme downside risk in smaller or speculative coins.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B3336-311D-60D2-28D6-61782812E1BB}"/>
              </a:ext>
            </a:extLst>
          </p:cNvPr>
          <p:cNvSpPr txBox="1"/>
          <p:nvPr/>
        </p:nvSpPr>
        <p:spPr>
          <a:xfrm>
            <a:off x="468735" y="1754214"/>
            <a:ext cx="1580536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Such steep declines are usually linked to low‑cap or thinly traded tokens, where small sell‑offs can trigger massive price crashes.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56D68-9E56-E438-683D-33DFAE43E213}"/>
              </a:ext>
            </a:extLst>
          </p:cNvPr>
          <p:cNvSpPr txBox="1"/>
          <p:nvPr/>
        </p:nvSpPr>
        <p:spPr>
          <a:xfrm>
            <a:off x="7694164" y="1786669"/>
            <a:ext cx="2364760" cy="3416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These results reinforce that while some coins can deliver huge short‑term gains, others can just as quickly wipe out most of their value making diversification and risk management critical</a:t>
            </a:r>
          </a:p>
        </p:txBody>
      </p:sp>
      <p:pic>
        <p:nvPicPr>
          <p:cNvPr id="17" name="Picture 16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B8E22FBA-B929-8CB5-D418-A5988DA1B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  <p:pic>
        <p:nvPicPr>
          <p:cNvPr id="18" name="Picture 17" descr="A group of green and gold coins&#10;&#10;AI-generated content may be incorrect.">
            <a:extLst>
              <a:ext uri="{FF2B5EF4-FFF2-40B4-BE49-F238E27FC236}">
                <a16:creationId xmlns:a16="http://schemas.microsoft.com/office/drawing/2014/main" id="{DD844A6B-95E5-ACD1-14F9-238A42C63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145" y="3976288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0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 animBg="1"/>
      <p:bldP spid="11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BBFD3C-C6D9-FD65-ABB1-5D4D57B68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167211"/>
            <a:ext cx="5426902" cy="452357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1CC51B3-2CEE-041F-876E-D947FAF7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979" y="31355"/>
            <a:ext cx="2940408" cy="4424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Multivariate Analysis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F0E1F-3647-615C-3CF0-B0ACCEDD8DD2}"/>
              </a:ext>
            </a:extLst>
          </p:cNvPr>
          <p:cNvSpPr txBox="1"/>
          <p:nvPr/>
        </p:nvSpPr>
        <p:spPr>
          <a:xfrm>
            <a:off x="245260" y="493472"/>
            <a:ext cx="916584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How strongly are the key numerical features in the cryptocurrency dataset correlated with each other, and what patterns emerge from these relationships?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E9521-F971-D97B-564A-88717A4BD196}"/>
              </a:ext>
            </a:extLst>
          </p:cNvPr>
          <p:cNvSpPr txBox="1"/>
          <p:nvPr/>
        </p:nvSpPr>
        <p:spPr>
          <a:xfrm>
            <a:off x="245260" y="1413062"/>
            <a:ext cx="1583540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/>
              <a:t>High positive correlations (close to +1) indicate features that move together e.g., market_cap and trading_volume often show strong positive correlation, meaning larger coins tend to trade more.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5A0AD-8984-3C2A-4371-D34A760E4A00}"/>
              </a:ext>
            </a:extLst>
          </p:cNvPr>
          <p:cNvSpPr txBox="1"/>
          <p:nvPr/>
        </p:nvSpPr>
        <p:spPr>
          <a:xfrm>
            <a:off x="7563506" y="1636673"/>
            <a:ext cx="1698480" cy="30469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/>
              <a:t>High negative correlations (close to -1) suggest inverse relationships  e.g., a coin’s stability (low volatility) might negatively correlate with its daily price swings.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177359-6F8B-539E-6F34-05AB4212630E}"/>
              </a:ext>
            </a:extLst>
          </p:cNvPr>
          <p:cNvSpPr txBox="1"/>
          <p:nvPr/>
        </p:nvSpPr>
        <p:spPr>
          <a:xfrm>
            <a:off x="2184012" y="5864492"/>
            <a:ext cx="610091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Near-zero correlations imply independence i.e. features that don’t influence each other directly</a:t>
            </a:r>
          </a:p>
        </p:txBody>
      </p:sp>
      <p:pic>
        <p:nvPicPr>
          <p:cNvPr id="16" name="Picture 15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C04BD89F-5D46-2608-B90A-B15448BFA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  <p:pic>
        <p:nvPicPr>
          <p:cNvPr id="18" name="Picture 17" descr="A group of green and gold coins&#10;&#10;AI-generated content may be incorrect.">
            <a:extLst>
              <a:ext uri="{FF2B5EF4-FFF2-40B4-BE49-F238E27FC236}">
                <a16:creationId xmlns:a16="http://schemas.microsoft.com/office/drawing/2014/main" id="{07F52D7B-8982-3C8C-F687-47A9EB40D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145" y="3976288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5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0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98B6-9C9C-1E71-FF28-2875A5F5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0415" y="589935"/>
            <a:ext cx="3088421" cy="884903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Conclusion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10A6DEF-A632-09AB-1F81-846B6CE7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957" y="1580486"/>
            <a:ext cx="8987339" cy="388077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crypto market shows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high volatility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with most assets experiencing modest daily losses and a few extreme outliers driving large gains or crashes.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Distribution analysis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reveals a bias toward negative returns, but with occasional sharp upward spikes — a hallmark of speculative rallies.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Ranking analysis (Top Gainers/Losers)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highlights the extremes, showing how a handful of tokens dominate short‑term performance.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Scatter analysis (Market Cap vs Volume)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confirms that larger coins tend to have higher liquidity, reinforcing the link between size and trading activity.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Correlation analysis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shows strong ties between market cap and trading volume, while daily price changes remain largely independent of size or price level.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Overall, the findings emphasize both 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risks and opportunities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 crypto, underscoring the need for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data‑driven decision‑making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5" name="Picture 14" descr="A group of green and gold coins&#10;&#10;AI-generated content may be incorrect.">
            <a:extLst>
              <a:ext uri="{FF2B5EF4-FFF2-40B4-BE49-F238E27FC236}">
                <a16:creationId xmlns:a16="http://schemas.microsoft.com/office/drawing/2014/main" id="{B2D47A2E-745A-1F8D-2D8E-41900E6FD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749" y="4019551"/>
            <a:ext cx="3429000" cy="3429000"/>
          </a:xfrm>
          <a:prstGeom prst="rect">
            <a:avLst/>
          </a:prstGeom>
        </p:spPr>
      </p:pic>
      <p:pic>
        <p:nvPicPr>
          <p:cNvPr id="16" name="Picture 15" descr="A gold coin with a logo on it&#10;&#10;AI-generated content may be incorrect.">
            <a:extLst>
              <a:ext uri="{FF2B5EF4-FFF2-40B4-BE49-F238E27FC236}">
                <a16:creationId xmlns:a16="http://schemas.microsoft.com/office/drawing/2014/main" id="{9003F6E6-6187-3F11-5245-4EDA9138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85" y="-515803"/>
            <a:ext cx="3232310" cy="323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3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23A9-2C6B-903D-AF78-69BE4576F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564" y="3111424"/>
            <a:ext cx="5172859" cy="1406013"/>
          </a:xfrm>
        </p:spPr>
        <p:txBody>
          <a:bodyPr>
            <a:normAutofit/>
          </a:bodyPr>
          <a:lstStyle/>
          <a:p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Thank You</a:t>
            </a:r>
            <a:endParaRPr lang="en-IN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00"/>
              </a:highlight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071C-2623-D82E-D8F8-D8B46828E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280" y="1811491"/>
            <a:ext cx="8240523" cy="86774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b="1" dirty="0"/>
              <a:t>Crypto Markets Are Dominated By Volatility And Outliers So Data‑driven Analysis Is The Only Way To Separate Noise From Opportunity</a:t>
            </a: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43A71-9E17-2B7D-D84B-EA636CD55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977" y="2701413"/>
            <a:ext cx="3810000" cy="381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Stacks of green poker chips&#10;&#10;AI-generated content may be incorrect.">
            <a:extLst>
              <a:ext uri="{FF2B5EF4-FFF2-40B4-BE49-F238E27FC236}">
                <a16:creationId xmlns:a16="http://schemas.microsoft.com/office/drawing/2014/main" id="{4485CA52-404F-C0A2-AD27-E9A7F2B66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66" y="3975798"/>
            <a:ext cx="3810000" cy="381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stack of green coins&#10;&#10;AI-generated content may be incorrect.">
            <a:extLst>
              <a:ext uri="{FF2B5EF4-FFF2-40B4-BE49-F238E27FC236}">
                <a16:creationId xmlns:a16="http://schemas.microsoft.com/office/drawing/2014/main" id="{FB2BFF81-2165-04EB-E8A5-6C8209B7E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2595" y="-346340"/>
            <a:ext cx="2501269" cy="2501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661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ppt/theme/themeOverride2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ppt/theme/themeOverride3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1585</Words>
  <Application>Microsoft Office PowerPoint</Application>
  <PresentationFormat>Widescreen</PresentationFormat>
  <Paragraphs>107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Cambria</vt:lpstr>
      <vt:lpstr>Trebuchet MS</vt:lpstr>
      <vt:lpstr>Wingdings</vt:lpstr>
      <vt:lpstr>Wingdings 3</vt:lpstr>
      <vt:lpstr>Facet</vt:lpstr>
      <vt:lpstr>PowerPoint Presentation</vt:lpstr>
      <vt:lpstr>Problems in the Crypto Market</vt:lpstr>
      <vt:lpstr>Web Scraping</vt:lpstr>
      <vt:lpstr>Interface of the Website</vt:lpstr>
      <vt:lpstr>Extracting Data From The Table</vt:lpstr>
      <vt:lpstr>Data Cleaning</vt:lpstr>
      <vt:lpstr>Data Visualization</vt:lpstr>
      <vt:lpstr>Bivariate Analysis</vt:lpstr>
      <vt:lpstr>Bivariate Analysis</vt:lpstr>
      <vt:lpstr>Bivariate Analysis</vt:lpstr>
      <vt:lpstr>Bivariate Analysis</vt:lpstr>
      <vt:lpstr>Bivariate Analysis</vt:lpstr>
      <vt:lpstr>Multivariate Analysis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Yashraj Patil</dc:creator>
  <cp:lastModifiedBy>Yashraj Patil</cp:lastModifiedBy>
  <cp:revision>1</cp:revision>
  <dcterms:created xsi:type="dcterms:W3CDTF">2025-09-26T19:49:41Z</dcterms:created>
  <dcterms:modified xsi:type="dcterms:W3CDTF">2025-12-25T10:46:49Z</dcterms:modified>
</cp:coreProperties>
</file>